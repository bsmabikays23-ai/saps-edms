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0" autoAdjust="0"/>
    <p:restoredTop sz="84223" autoAdjust="0"/>
  </p:normalViewPr>
  <p:slideViewPr>
    <p:cSldViewPr snapToGrid="0" snapToObjects="1">
      <p:cViewPr varScale="1">
        <p:scale>
          <a:sx n="75" d="100"/>
          <a:sy n="75" d="100"/>
        </p:scale>
        <p:origin x="739"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230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Today, Group 36 will present our Requirement Engineering Research Project focusing on SAPS case dockets. We will explore why victims are still being turned away at police stations and how a targeted requirement engineering approach can build a system to fix these accountability gaps.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criminal case in South Africa begins the same way: a victim walks into a station. This administrative step is actually the hinge the entire justice system turns on. Our project addresses two persistent failures: unlawful refusals to open dockets, and the subsequent stalling of cases that do get opened. We aim to translate these real-world problems into concrete system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literature review, including evidence up to the 2025/2026 Madlanga Commission, shows this isn't just isolated admin errors. The '121 dockets' controversy proves that even high-profile cases can vanish due to poor tracking. With millions of dockets closed or stalled, relying on victims to proactively complain to an already backlogged IPID is a broken model.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distilled the literature into four major challenges. The most critical is the 'invisible refusal'—when a victim is turned away, there is no digital footprint that they even tried to report a crime. This forces the victim to carry the burden of escalation, which is both unfair and ineffective.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problem statement is clear: there is an accountability deficit. We need a system that shifts the burden of monitoring from the victim to the system itself. It must record every attempt, track inactivity, and automatically escalate issues before they become cold cases.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successful system must serve multiple stakeholders. While victims need transparency, we must also ensure the system supports police officers and commanders with actionable visibility, rather than just punishing them. Oversight bodies like IPID are key beneficiaries of the automated audit trails.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functional requirements focus on automation and accountability. Crucially, if an officer refuses to open a docket, the system forces them to record a reason. If a deadline is missed, the system automatically escalates the issue to the station commander, removing the burden from the victim.</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Non-functional requirements are just as critical. Given South Africa's infrastructure challenges, offline capability is a must. Furthermore, strict POPIA compliance and immutable audit trails are non-negotiable to ensure the data can be trusted in legal or oversight proceedings.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shows the high-level entity-relationship model of our proposed system. Notice how Case_Rejection and Case_Escalation are first-class entities, not just afterthoughts. Every action is linked to an officer, a station, and an activity log, ensuring a complete, tamper-evident audit trail.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project plan spans a tight 5-week window from August 1st to September 1st. We have structured this into 9 distinct phases, with hard milestones for the literature review, requirements finalization, and UML modelling to ensure we meet our final submission date.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feasibility analysis shows high technical and economic viability because we are proposing a lightweight compliance layer, not a massive system overhaul. However, operational and schedule feasibility are moderate. The technology is only as good as the officers using it, and our timeline has very little slack.</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requirement engineering doesn't invent a new problem here; it takes well-documented, live evidence and turns it into a testable, buildable solution. Our proposed layered system can make failures visible much earlier. However, technology alone cannot solve this. It requires officers to use it, commanders to act on it, and oversight bodies to enforce it.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your time and attention. We welcome any questions you may have regarding our requirements, proposed solution, or project methodology.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9144000"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41640" y="-1720"/>
            <a:ext cx="881253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4540" y="-1291"/>
            <a:ext cx="2706134"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3923854" y="1402819"/>
            <a:ext cx="4967533" cy="3741293"/>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1040148" y="818984"/>
            <a:ext cx="4947184" cy="3268520"/>
          </a:xfrm>
        </p:spPr>
        <p:txBody>
          <a:bodyPr>
            <a:normAutofit/>
          </a:bodyPr>
          <a:lstStyle/>
          <a:p>
            <a:pPr algn="r"/>
            <a:r>
              <a:rPr lang="en-US" sz="4200">
                <a:solidFill>
                  <a:srgbClr val="FFFFFF"/>
                </a:solidFill>
              </a:rPr>
              <a:t>SAPS Case Dockets: Why Victims Still Get Turned Away</a:t>
            </a:r>
          </a:p>
        </p:txBody>
      </p:sp>
      <p:sp>
        <p:nvSpPr>
          <p:cNvPr id="56" name="Rectangle 55">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735" y="4480038"/>
            <a:ext cx="9134528"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448905" y="4797188"/>
            <a:ext cx="4538427" cy="1241828"/>
          </a:xfrm>
        </p:spPr>
        <p:txBody>
          <a:bodyPr>
            <a:normAutofit/>
          </a:bodyPr>
          <a:lstStyle/>
          <a:p>
            <a:pPr algn="r">
              <a:lnSpc>
                <a:spcPct val="90000"/>
              </a:lnSpc>
            </a:pPr>
            <a:r>
              <a:rPr lang="en-US" sz="1500">
                <a:solidFill>
                  <a:srgbClr val="FFFFFF"/>
                </a:solidFill>
              </a:rPr>
              <a:t>What Requirement Engineering Can Do About It</a:t>
            </a:r>
          </a:p>
          <a:p>
            <a:pPr algn="r">
              <a:lnSpc>
                <a:spcPct val="90000"/>
              </a:lnSpc>
            </a:pPr>
            <a:r>
              <a:rPr lang="en-US" sz="1500">
                <a:solidFill>
                  <a:srgbClr val="FFFFFF"/>
                </a:solidFill>
              </a:rPr>
              <a:t>Requirement Engineering Research Project – Topic 3</a:t>
            </a:r>
          </a:p>
          <a:p>
            <a:pPr algn="r">
              <a:lnSpc>
                <a:spcPct val="90000"/>
              </a:lnSpc>
            </a:pPr>
            <a:r>
              <a:rPr lang="en-US" sz="1500">
                <a:solidFill>
                  <a:srgbClr val="FFFFFF"/>
                </a:solidFill>
              </a:rPr>
              <a:t>Group 36 | July 2026</a:t>
            </a:r>
          </a:p>
        </p:txBody>
      </p:sp>
      <p:sp>
        <p:nvSpPr>
          <p:cNvPr id="58" name="Rectangle 57">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368117" y="2081692"/>
            <a:ext cx="6857572" cy="2694194"/>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4" name="Rectangle 4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4" name="Rectangle 5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ZA" sz="3200">
                <a:solidFill>
                  <a:srgbClr val="FFFFFF"/>
                </a:solidFill>
              </a:rPr>
              <a:t>Introduction &amp; Context</a:t>
            </a:r>
          </a:p>
        </p:txBody>
      </p:sp>
      <p:sp>
        <p:nvSpPr>
          <p:cNvPr id="3" name="Content Placeholder 2"/>
          <p:cNvSpPr>
            <a:spLocks noGrp="1"/>
          </p:cNvSpPr>
          <p:nvPr>
            <p:ph idx="1"/>
          </p:nvPr>
        </p:nvSpPr>
        <p:spPr>
          <a:xfrm>
            <a:off x="3607694" y="649480"/>
            <a:ext cx="4916510" cy="5546047"/>
          </a:xfrm>
        </p:spPr>
        <p:txBody>
          <a:bodyPr anchor="ctr">
            <a:normAutofit/>
          </a:bodyPr>
          <a:lstStyle/>
          <a:p>
            <a:endParaRPr lang="en-US" sz="1700"/>
          </a:p>
          <a:p>
            <a:pPr>
              <a:spcAft>
                <a:spcPts val="800"/>
              </a:spcAft>
              <a:defRPr sz="1800"/>
            </a:pPr>
            <a:r>
              <a:rPr lang="en-US" sz="1700"/>
              <a:t>The 'Hinge' of the Justice System: Opening a docket is the critical first step.</a:t>
            </a:r>
          </a:p>
          <a:p>
            <a:pPr>
              <a:spcAft>
                <a:spcPts val="800"/>
              </a:spcAft>
              <a:defRPr sz="1800"/>
            </a:pPr>
            <a:r>
              <a:rPr lang="en-US" sz="1700"/>
              <a:t>Failure 1: Unlawful Refusal - Officers improperly deciding not to open a case.</a:t>
            </a:r>
          </a:p>
          <a:p>
            <a:pPr>
              <a:spcAft>
                <a:spcPts val="800"/>
              </a:spcAft>
              <a:defRPr sz="1800"/>
            </a:pPr>
            <a:r>
              <a:rPr lang="en-US" sz="1700"/>
              <a:t>Failure 2: Post-Opening Neglect - Cases stall, paperwork goes missing, victims are left chasing answers.</a:t>
            </a:r>
          </a:p>
          <a:p>
            <a:pPr>
              <a:spcAft>
                <a:spcPts val="800"/>
              </a:spcAft>
              <a:defRPr sz="1800"/>
            </a:pPr>
            <a:r>
              <a:rPr lang="en-US" sz="1700"/>
              <a:t>Project Goal: Translate documented evidence (2024–2026) into actionable system requirements.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8" name="Rectangle 37">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Freeform: Shape 4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8" name="Rectangle 4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ZA" sz="3500">
                <a:solidFill>
                  <a:srgbClr val="FFFFFF"/>
                </a:solidFill>
              </a:rPr>
              <a:t>Literature Review &amp; Key Findings</a:t>
            </a:r>
          </a:p>
        </p:txBody>
      </p:sp>
      <p:sp>
        <p:nvSpPr>
          <p:cNvPr id="3" name="Content Placeholder 2"/>
          <p:cNvSpPr>
            <a:spLocks noGrp="1"/>
          </p:cNvSpPr>
          <p:nvPr>
            <p:ph idx="1"/>
          </p:nvPr>
        </p:nvSpPr>
        <p:spPr>
          <a:xfrm>
            <a:off x="3607694" y="649480"/>
            <a:ext cx="4916510" cy="5546047"/>
          </a:xfrm>
        </p:spPr>
        <p:txBody>
          <a:bodyPr anchor="ctr">
            <a:normAutofit/>
          </a:bodyPr>
          <a:lstStyle/>
          <a:p>
            <a:endParaRPr lang="en-US" sz="1700"/>
          </a:p>
          <a:p>
            <a:pPr>
              <a:spcAft>
                <a:spcPts val="800"/>
              </a:spcAft>
              <a:defRPr sz="1800"/>
            </a:pPr>
            <a:r>
              <a:rPr lang="en-US" sz="1700"/>
              <a:t>Policy vs. Practice: National Instruction 3 of 2011 mandates registration, but everyday practice deviates.</a:t>
            </a:r>
          </a:p>
          <a:p>
            <a:pPr>
              <a:spcAft>
                <a:spcPts val="800"/>
              </a:spcAft>
              <a:defRPr sz="1800"/>
            </a:pPr>
            <a:r>
              <a:rPr lang="en-US" sz="1700"/>
              <a:t>The '121 Dockets' Case: Active political killing dockets moved to SAPS head office in 2025 remained inactive (Madlanga Commission).</a:t>
            </a:r>
          </a:p>
          <a:p>
            <a:pPr>
              <a:spcAft>
                <a:spcPts val="800"/>
              </a:spcAft>
              <a:defRPr sz="1800"/>
            </a:pPr>
            <a:r>
              <a:rPr lang="en-US" sz="1700"/>
              <a:t>The Wider Backlog: ~1.9 million cases open; &gt;5.4 million dockets closed for 'lack of evidence' since 2018/19.</a:t>
            </a:r>
          </a:p>
          <a:p>
            <a:pPr>
              <a:spcAft>
                <a:spcPts val="800"/>
              </a:spcAft>
              <a:defRPr sz="1800"/>
            </a:pPr>
            <a:r>
              <a:rPr lang="en-US" sz="1700"/>
              <a:t>Oversight Gaps: IPID and the National Complaints Centre are reactive and overburdened.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8" name="Rectangle 37">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Freeform: Shape 4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8" name="Rectangle 4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ZA" sz="3500">
                <a:solidFill>
                  <a:srgbClr val="FFFFFF"/>
                </a:solidFill>
              </a:rPr>
              <a:t>Core Challenges Identified</a:t>
            </a:r>
          </a:p>
        </p:txBody>
      </p:sp>
      <p:sp>
        <p:nvSpPr>
          <p:cNvPr id="3" name="Content Placeholder 2"/>
          <p:cNvSpPr>
            <a:spLocks noGrp="1"/>
          </p:cNvSpPr>
          <p:nvPr>
            <p:ph idx="1"/>
          </p:nvPr>
        </p:nvSpPr>
        <p:spPr>
          <a:xfrm>
            <a:off x="3607694" y="649480"/>
            <a:ext cx="4916510" cy="5546047"/>
          </a:xfrm>
        </p:spPr>
        <p:txBody>
          <a:bodyPr anchor="ctr">
            <a:normAutofit/>
          </a:bodyPr>
          <a:lstStyle/>
          <a:p>
            <a:endParaRPr lang="en-US" sz="1700"/>
          </a:p>
          <a:p>
            <a:pPr>
              <a:spcAft>
                <a:spcPts val="800"/>
              </a:spcAft>
              <a:defRPr sz="1800"/>
            </a:pPr>
            <a:r>
              <a:rPr lang="en-US" sz="1700"/>
              <a:t>1. Unlawful Refusal: No independent digital record exists when a victim is turned away.</a:t>
            </a:r>
          </a:p>
          <a:p>
            <a:pPr>
              <a:spcAft>
                <a:spcPts val="800"/>
              </a:spcAft>
              <a:defRPr sz="1800"/>
            </a:pPr>
            <a:r>
              <a:rPr lang="en-US" sz="1700"/>
              <a:t>2. Missing/Stalled Dockets: Manual processes allow cases to be overlooked.</a:t>
            </a:r>
          </a:p>
          <a:p>
            <a:pPr>
              <a:spcAft>
                <a:spcPts val="800"/>
              </a:spcAft>
              <a:defRPr sz="1800"/>
            </a:pPr>
            <a:r>
              <a:rPr lang="en-US" sz="1700"/>
              <a:t>3. Victim-Driven Escalation: Unfair burden placed on traumatized complainants to chase the system.</a:t>
            </a:r>
          </a:p>
          <a:p>
            <a:pPr>
              <a:spcAft>
                <a:spcPts val="800"/>
              </a:spcAft>
              <a:defRPr sz="1800"/>
            </a:pPr>
            <a:r>
              <a:rPr lang="en-US" sz="1700"/>
              <a:t>4. Oversight Backlogs: Reactive mechanisms (like IPID) are overwhelmed, reducing accountability.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Rectangle 32">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ZA" sz="3500">
                <a:solidFill>
                  <a:srgbClr val="FFFFFF"/>
                </a:solidFill>
              </a:rPr>
              <a:t>Problem Statement</a:t>
            </a:r>
          </a:p>
        </p:txBody>
      </p:sp>
      <p:sp>
        <p:nvSpPr>
          <p:cNvPr id="3" name="Content Placeholder 2"/>
          <p:cNvSpPr>
            <a:spLocks noGrp="1"/>
          </p:cNvSpPr>
          <p:nvPr>
            <p:ph idx="1"/>
          </p:nvPr>
        </p:nvSpPr>
        <p:spPr>
          <a:xfrm>
            <a:off x="3607694" y="649480"/>
            <a:ext cx="4916510" cy="5546047"/>
          </a:xfrm>
        </p:spPr>
        <p:txBody>
          <a:bodyPr anchor="ctr">
            <a:normAutofit/>
          </a:bodyPr>
          <a:lstStyle/>
          <a:p>
            <a:endParaRPr lang="en-US" sz="1700"/>
          </a:p>
          <a:p>
            <a:pPr>
              <a:spcAft>
                <a:spcPts val="800"/>
              </a:spcAft>
              <a:defRPr sz="1800"/>
            </a:pPr>
            <a:r>
              <a:rPr lang="en-US" sz="1700"/>
              <a:t>The Gap: Disconnect between National Instruction 3 of 2011 and station-level practice.</a:t>
            </a:r>
          </a:p>
          <a:p>
            <a:pPr>
              <a:spcAft>
                <a:spcPts val="800"/>
              </a:spcAft>
              <a:defRPr sz="1800"/>
            </a:pPr>
            <a:r>
              <a:rPr lang="en-US" sz="1700"/>
              <a:t>Accountability Deficit: Existing systems depend on the complainant to identify and escalate failures.</a:t>
            </a:r>
          </a:p>
          <a:p>
            <a:pPr>
              <a:spcAft>
                <a:spcPts val="800"/>
              </a:spcAft>
              <a:defRPr sz="1800"/>
            </a:pPr>
            <a:r>
              <a:rPr lang="en-US" sz="1700"/>
              <a:t>The Need: A digital compliance and escalation system that can:</a:t>
            </a:r>
          </a:p>
          <a:p>
            <a:pPr>
              <a:spcAft>
                <a:spcPts val="800"/>
              </a:spcAft>
              <a:defRPr sz="1800"/>
            </a:pPr>
            <a:r>
              <a:rPr lang="en-US" sz="1700"/>
              <a:t>   • Record all complaint attempts (even refused ones).</a:t>
            </a:r>
          </a:p>
          <a:p>
            <a:pPr>
              <a:spcAft>
                <a:spcPts val="800"/>
              </a:spcAft>
              <a:defRPr sz="1800"/>
            </a:pPr>
            <a:r>
              <a:rPr lang="en-US" sz="1700"/>
              <a:t>   • Monitor docket progress and identify inactivity.</a:t>
            </a:r>
          </a:p>
          <a:p>
            <a:pPr>
              <a:spcAft>
                <a:spcPts val="800"/>
              </a:spcAft>
              <a:defRPr sz="1800"/>
            </a:pPr>
            <a:r>
              <a:rPr lang="en-US" sz="1700"/>
              <a:t>   • Create an immutable audit trail.</a:t>
            </a:r>
          </a:p>
          <a:p>
            <a:pPr>
              <a:spcAft>
                <a:spcPts val="800"/>
              </a:spcAft>
              <a:defRPr sz="1800"/>
            </a:pPr>
            <a:r>
              <a:rPr lang="en-US" sz="1700"/>
              <a:t>   • Automatically escalate unresolved problems.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8" name="Rectangle 37">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Freeform: Shape 4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8" name="Rectangle 4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ZA" sz="3200">
                <a:solidFill>
                  <a:srgbClr val="FFFFFF"/>
                </a:solidFill>
              </a:rPr>
              <a:t>Key Stakeholders</a:t>
            </a:r>
          </a:p>
        </p:txBody>
      </p:sp>
      <p:sp>
        <p:nvSpPr>
          <p:cNvPr id="3" name="Content Placeholder 2"/>
          <p:cNvSpPr>
            <a:spLocks noGrp="1"/>
          </p:cNvSpPr>
          <p:nvPr>
            <p:ph idx="1"/>
          </p:nvPr>
        </p:nvSpPr>
        <p:spPr>
          <a:xfrm>
            <a:off x="3607694" y="649480"/>
            <a:ext cx="4916510" cy="5546047"/>
          </a:xfrm>
        </p:spPr>
        <p:txBody>
          <a:bodyPr anchor="ctr">
            <a:normAutofit/>
          </a:bodyPr>
          <a:lstStyle/>
          <a:p>
            <a:endParaRPr lang="en-US" sz="1700"/>
          </a:p>
          <a:p>
            <a:pPr>
              <a:spcAft>
                <a:spcPts val="800"/>
              </a:spcAft>
              <a:defRPr sz="1800"/>
            </a:pPr>
            <a:r>
              <a:rPr lang="en-US" sz="1700"/>
              <a:t>Complainants/Victims: Need confirmation of recording and simple status tracking.</a:t>
            </a:r>
          </a:p>
          <a:p>
            <a:pPr>
              <a:spcAft>
                <a:spcPts val="800"/>
              </a:spcAft>
              <a:defRPr sz="1800"/>
            </a:pPr>
            <a:r>
              <a:rPr lang="en-US" sz="1700"/>
              <a:t>CSC Officers &amp; Detectives: Need efficient tools that don’t add unnecessary admin work.</a:t>
            </a:r>
          </a:p>
          <a:p>
            <a:pPr>
              <a:spcAft>
                <a:spcPts val="800"/>
              </a:spcAft>
              <a:defRPr sz="1800"/>
            </a:pPr>
            <a:r>
              <a:rPr lang="en-US" sz="1700"/>
              <a:t>Station &amp; Cluster Commanders: Need visibility into delays and non-compliance.</a:t>
            </a:r>
          </a:p>
          <a:p>
            <a:pPr>
              <a:spcAft>
                <a:spcPts val="800"/>
              </a:spcAft>
              <a:defRPr sz="1800"/>
            </a:pPr>
            <a:r>
              <a:rPr lang="en-US" sz="1700"/>
              <a:t>SAPS Management: Require reliable, system-wide compliance data.</a:t>
            </a:r>
          </a:p>
          <a:p>
            <a:pPr>
              <a:spcAft>
                <a:spcPts val="800"/>
              </a:spcAft>
              <a:defRPr sz="1800"/>
            </a:pPr>
            <a:r>
              <a:rPr lang="en-US" sz="1700"/>
              <a:t>Oversight Bodies (IPID): Need reliable audit trails for misconduct investigations.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8" name="Rectangle 37">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Freeform: Shape 4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8" name="Rectangle 4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ZA" sz="3000">
                <a:solidFill>
                  <a:srgbClr val="FFFFFF"/>
                </a:solidFill>
              </a:rPr>
              <a:t>Functional Requirements</a:t>
            </a:r>
          </a:p>
        </p:txBody>
      </p:sp>
      <p:sp>
        <p:nvSpPr>
          <p:cNvPr id="3" name="Content Placeholder 2"/>
          <p:cNvSpPr>
            <a:spLocks noGrp="1"/>
          </p:cNvSpPr>
          <p:nvPr>
            <p:ph idx="1"/>
          </p:nvPr>
        </p:nvSpPr>
        <p:spPr>
          <a:xfrm>
            <a:off x="3607694" y="649480"/>
            <a:ext cx="4916510" cy="5546047"/>
          </a:xfrm>
        </p:spPr>
        <p:txBody>
          <a:bodyPr anchor="ctr">
            <a:normAutofit/>
          </a:bodyPr>
          <a:lstStyle/>
          <a:p>
            <a:endParaRPr lang="en-US" sz="1700"/>
          </a:p>
          <a:p>
            <a:pPr>
              <a:spcAft>
                <a:spcPts val="800"/>
              </a:spcAft>
              <a:defRPr sz="1800"/>
            </a:pPr>
            <a:r>
              <a:rPr lang="en-US" sz="1700"/>
              <a:t>FR1: Complaint Recording - Timestamped record created immediately upon any report attempt.</a:t>
            </a:r>
          </a:p>
          <a:p>
            <a:pPr>
              <a:spcAft>
                <a:spcPts val="800"/>
              </a:spcAft>
              <a:defRPr sz="1800"/>
            </a:pPr>
            <a:r>
              <a:rPr lang="en-US" sz="1700"/>
              <a:t>FR2: Refusal Recording - Mandatory justification required if a docket is not registered.</a:t>
            </a:r>
          </a:p>
          <a:p>
            <a:pPr>
              <a:spcAft>
                <a:spcPts val="800"/>
              </a:spcAft>
              <a:defRPr sz="1800"/>
            </a:pPr>
            <a:r>
              <a:rPr lang="en-US" sz="1700"/>
              <a:t>FR3: Officer Identification - All actions linked to an authenticated officer.</a:t>
            </a:r>
          </a:p>
          <a:p>
            <a:pPr>
              <a:spcAft>
                <a:spcPts val="800"/>
              </a:spcAft>
              <a:defRPr sz="1800"/>
            </a:pPr>
            <a:r>
              <a:rPr lang="en-US" sz="1700"/>
              <a:t>FR4: Automatic Escalation - Flags complaints not converted to dockets within a defined period.</a:t>
            </a:r>
          </a:p>
          <a:p>
            <a:pPr>
              <a:spcAft>
                <a:spcPts val="800"/>
              </a:spcAft>
              <a:defRPr sz="1800"/>
            </a:pPr>
            <a:r>
              <a:rPr lang="en-US" sz="1700"/>
              <a:t>FR5: Commander Notification - Alerts station/cluster commanders of unresolved flags.</a:t>
            </a:r>
          </a:p>
          <a:p>
            <a:pPr>
              <a:spcAft>
                <a:spcPts val="800"/>
              </a:spcAft>
              <a:defRPr sz="1800"/>
            </a:pPr>
            <a:r>
              <a:rPr lang="en-US" sz="1700"/>
              <a:t>FR6: Case Tracking - Reference numbers for victims to check status.</a:t>
            </a:r>
          </a:p>
          <a:p>
            <a:pPr>
              <a:spcAft>
                <a:spcPts val="800"/>
              </a:spcAft>
              <a:defRPr sz="1800"/>
            </a:pPr>
            <a:r>
              <a:rPr lang="en-US" sz="1700"/>
              <a:t>FR7: Audit Trail &amp; Reporting - Complete history of actions and compliance indicator reports.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8" name="Rectangle 37">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Freeform: Shape 4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8" name="Rectangle 4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ZA" sz="3000">
                <a:solidFill>
                  <a:srgbClr val="FFFFFF"/>
                </a:solidFill>
              </a:rPr>
              <a:t>Non-Functional Requirements</a:t>
            </a:r>
          </a:p>
        </p:txBody>
      </p:sp>
      <p:sp>
        <p:nvSpPr>
          <p:cNvPr id="3" name="Content Placeholder 2"/>
          <p:cNvSpPr>
            <a:spLocks noGrp="1"/>
          </p:cNvSpPr>
          <p:nvPr>
            <p:ph idx="1"/>
          </p:nvPr>
        </p:nvSpPr>
        <p:spPr>
          <a:xfrm>
            <a:off x="3607694" y="649480"/>
            <a:ext cx="4916510" cy="5546047"/>
          </a:xfrm>
        </p:spPr>
        <p:txBody>
          <a:bodyPr anchor="ctr">
            <a:normAutofit/>
          </a:bodyPr>
          <a:lstStyle/>
          <a:p>
            <a:endParaRPr lang="en-US" sz="1700"/>
          </a:p>
          <a:p>
            <a:pPr>
              <a:spcAft>
                <a:spcPts val="800"/>
              </a:spcAft>
              <a:defRPr sz="1800"/>
            </a:pPr>
            <a:r>
              <a:rPr lang="en-US" sz="1700"/>
              <a:t>Security &amp; Privacy: Strict authentication, authorization, and POPIA compliance.</a:t>
            </a:r>
          </a:p>
          <a:p>
            <a:pPr>
              <a:spcAft>
                <a:spcPts val="800"/>
              </a:spcAft>
              <a:defRPr sz="1800"/>
            </a:pPr>
            <a:r>
              <a:rPr lang="en-US" sz="1700"/>
              <a:t>Integrity &amp; Auditability: Records protected against unauthorized alteration; all actions logged.</a:t>
            </a:r>
          </a:p>
          <a:p>
            <a:pPr>
              <a:spcAft>
                <a:spcPts val="800"/>
              </a:spcAft>
              <a:defRPr sz="1800"/>
            </a:pPr>
            <a:r>
              <a:rPr lang="en-US" sz="1700"/>
              <a:t>Offline Capability: Supports offline operation with sync upon reconnection (critical for load-shedding).</a:t>
            </a:r>
          </a:p>
          <a:p>
            <a:pPr>
              <a:spcAft>
                <a:spcPts val="800"/>
              </a:spcAft>
              <a:defRPr sz="1800"/>
            </a:pPr>
            <a:r>
              <a:rPr lang="en-US" sz="1700"/>
              <a:t>Scalability &amp; Performance: Must handle millions of dockets across all SAPS stations.</a:t>
            </a:r>
          </a:p>
          <a:p>
            <a:pPr>
              <a:spcAft>
                <a:spcPts val="800"/>
              </a:spcAft>
              <a:defRPr sz="1800"/>
            </a:pPr>
            <a:r>
              <a:rPr lang="en-US" sz="1700"/>
              <a:t>Usability: Simple interface to avoid disrupting normal station operations.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4" name="Rectangle 6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6" name="Rectangle 6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Shape 7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6" name="Rectangle 7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vert="horz" lIns="91440" tIns="45720" rIns="91440" bIns="45720" rtlCol="0" anchor="b">
            <a:normAutofit/>
          </a:bodyPr>
          <a:lstStyle/>
          <a:p>
            <a:pPr algn="r" defTabSz="914400"/>
            <a:r>
              <a:rPr lang="en-US" sz="3000" kern="1200">
                <a:solidFill>
                  <a:srgbClr val="FFFFFF"/>
                </a:solidFill>
                <a:latin typeface="+mj-lt"/>
                <a:ea typeface="+mj-ea"/>
                <a:cs typeface="+mj-cs"/>
              </a:rPr>
              <a:t>System Data Model (Entity Relationships)</a:t>
            </a:r>
          </a:p>
        </p:txBody>
      </p:sp>
      <p:sp>
        <p:nvSpPr>
          <p:cNvPr id="7" name="Content Placeholder 6">
            <a:extLst>
              <a:ext uri="{FF2B5EF4-FFF2-40B4-BE49-F238E27FC236}">
                <a16:creationId xmlns:a16="http://schemas.microsoft.com/office/drawing/2014/main" id="{274F1891-D0FD-5EA2-C54F-21A9E44AEEEF}"/>
              </a:ext>
            </a:extLst>
          </p:cNvPr>
          <p:cNvSpPr>
            <a:spLocks noGrp="1"/>
          </p:cNvSpPr>
          <p:nvPr>
            <p:ph idx="1"/>
          </p:nvPr>
        </p:nvSpPr>
        <p:spPr>
          <a:xfrm>
            <a:off x="3607694" y="649480"/>
            <a:ext cx="4916510" cy="5546047"/>
          </a:xfrm>
        </p:spPr>
        <p:txBody>
          <a:bodyPr anchor="ctr">
            <a:normAutofit/>
          </a:bodyPr>
          <a:lstStyle/>
          <a:p>
            <a:r>
              <a:rPr lang="en-US" sz="1700"/>
              <a:t>Complaint Received → 2. Timestamped Record Created → 3. Docket Registered (or 4. Refusal Recorded with Justification).</a:t>
            </a:r>
          </a:p>
          <a:p>
            <a:r>
              <a:rPr lang="en-US" sz="1700"/>
              <a:t>Automatic Monitoring for inactivity/missed deadlines.</a:t>
            </a:r>
          </a:p>
          <a:p>
            <a:r>
              <a:rPr lang="en-US" sz="1700"/>
              <a:t>First Escalation: Alert to Station Commander.</a:t>
            </a:r>
          </a:p>
          <a:p>
            <a:r>
              <a:rPr lang="en-US" sz="1700"/>
              <a:t>Further Escalation: To Cluster Commander or Oversight Authority (IPID).</a:t>
            </a:r>
          </a:p>
          <a:p>
            <a:r>
              <a:rPr lang="en-US" sz="1700"/>
              <a:t>Complainant Tracking: Victim checks status via reference number.</a:t>
            </a:r>
          </a:p>
          <a:p>
            <a:r>
              <a:rPr lang="en-US" sz="1700"/>
              <a:t>Audit &amp; Reporting: Management reviews complete case history.</a:t>
            </a:r>
            <a:endParaRPr lang="en-ZA" sz="17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7" name="Rectangle 66">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9" name="Rectangle 68">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500"/>
            <a:ext cx="9143999" cy="6858000"/>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AFFC87AC-C919-4FE5-BAC3-39509E001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76" y="-1500"/>
            <a:ext cx="6089949" cy="6858001"/>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7D0659F6-0853-468D-B1B2-44FDBE98B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54" y="-3000"/>
            <a:ext cx="9150948" cy="6859501"/>
          </a:xfrm>
          <a:prstGeom prst="rect">
            <a:avLst/>
          </a:prstGeom>
          <a:gradFill>
            <a:gsLst>
              <a:gs pos="0">
                <a:srgbClr val="000000">
                  <a:alpha val="71765"/>
                </a:srgbClr>
              </a:gs>
              <a:gs pos="100000">
                <a:schemeClr val="accent1">
                  <a:alpha val="24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58902" y="0"/>
            <a:ext cx="8788573" cy="6858000"/>
          </a:xfrm>
          <a:prstGeom prst="rect">
            <a:avLst/>
          </a:prstGeom>
          <a:gradFill>
            <a:gsLst>
              <a:gs pos="19000">
                <a:srgbClr val="000000">
                  <a:alpha val="62000"/>
                </a:srgbClr>
              </a:gs>
              <a:gs pos="100000">
                <a:schemeClr val="accent1">
                  <a:lumMod val="75000"/>
                  <a:alpha val="44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itle 46">
            <a:extLst>
              <a:ext uri="{FF2B5EF4-FFF2-40B4-BE49-F238E27FC236}">
                <a16:creationId xmlns:a16="http://schemas.microsoft.com/office/drawing/2014/main" id="{A68EC588-76F6-1053-6F08-11A773519004}"/>
              </a:ext>
            </a:extLst>
          </p:cNvPr>
          <p:cNvSpPr>
            <a:spLocks noGrp="1"/>
          </p:cNvSpPr>
          <p:nvPr>
            <p:ph type="title"/>
          </p:nvPr>
        </p:nvSpPr>
        <p:spPr>
          <a:xfrm>
            <a:off x="856979" y="561203"/>
            <a:ext cx="7449518" cy="1165996"/>
          </a:xfrm>
        </p:spPr>
        <p:txBody>
          <a:bodyPr vert="horz" lIns="91440" tIns="45720" rIns="91440" bIns="45720" rtlCol="0" anchor="b">
            <a:normAutofit/>
          </a:bodyPr>
          <a:lstStyle/>
          <a:p>
            <a:pPr defTabSz="914400">
              <a:lnSpc>
                <a:spcPct val="90000"/>
              </a:lnSpc>
            </a:pPr>
            <a:r>
              <a:rPr lang="en-US" sz="4200">
                <a:solidFill>
                  <a:srgbClr val="FFFFFF"/>
                </a:solidFill>
              </a:rPr>
              <a:t>System Data Model </a:t>
            </a:r>
          </a:p>
        </p:txBody>
      </p:sp>
      <p:sp>
        <p:nvSpPr>
          <p:cNvPr id="77" name="Rectangle 76">
            <a:extLst>
              <a:ext uri="{FF2B5EF4-FFF2-40B4-BE49-F238E27FC236}">
                <a16:creationId xmlns:a16="http://schemas.microsoft.com/office/drawing/2014/main" id="{977ACDD7-882D-4B81-A213-84C82B96B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 y="2888341"/>
            <a:ext cx="9152864" cy="3968158"/>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Content Placeholder 49">
            <a:extLst>
              <a:ext uri="{FF2B5EF4-FFF2-40B4-BE49-F238E27FC236}">
                <a16:creationId xmlns:a16="http://schemas.microsoft.com/office/drawing/2014/main" id="{A7207C3B-E8E1-85D9-8CE0-B52EDB813A4F}"/>
              </a:ext>
            </a:extLst>
          </p:cNvPr>
          <p:cNvPicPr>
            <a:picLocks noGrp="1" noChangeAspect="1"/>
          </p:cNvPicPr>
          <p:nvPr>
            <p:ph sz="half" idx="1"/>
          </p:nvPr>
        </p:nvPicPr>
        <p:blipFill>
          <a:blip r:embed="rId3"/>
          <a:stretch>
            <a:fillRect/>
          </a:stretch>
        </p:blipFill>
        <p:spPr>
          <a:xfrm>
            <a:off x="243839" y="2133757"/>
            <a:ext cx="4390857" cy="4163039"/>
          </a:xfrm>
          <a:prstGeom prst="rect">
            <a:avLst/>
          </a:prstGeom>
        </p:spPr>
      </p:pic>
      <p:pic>
        <p:nvPicPr>
          <p:cNvPr id="53" name="Content Placeholder 52">
            <a:extLst>
              <a:ext uri="{FF2B5EF4-FFF2-40B4-BE49-F238E27FC236}">
                <a16:creationId xmlns:a16="http://schemas.microsoft.com/office/drawing/2014/main" id="{43DE8C81-AAC5-610F-D03E-2A1FF548D3F1}"/>
              </a:ext>
            </a:extLst>
          </p:cNvPr>
          <p:cNvPicPr>
            <a:picLocks noGrp="1" noChangeAspect="1"/>
          </p:cNvPicPr>
          <p:nvPr>
            <p:ph sz="half" idx="2"/>
          </p:nvPr>
        </p:nvPicPr>
        <p:blipFill>
          <a:blip r:embed="rId4"/>
          <a:stretch>
            <a:fillRect/>
          </a:stretch>
        </p:blipFill>
        <p:spPr>
          <a:xfrm>
            <a:off x="5207015" y="2133757"/>
            <a:ext cx="3364661" cy="416303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 name="Flowchart: Document 69">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631" y="0"/>
            <a:ext cx="2436019"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171162"/>
            <a:ext cx="2130136" cy="2371148"/>
          </a:xfrm>
        </p:spPr>
        <p:txBody>
          <a:bodyPr vert="horz" lIns="91440" tIns="45720" rIns="91440" bIns="45720" rtlCol="0" anchor="ctr">
            <a:normAutofit/>
          </a:bodyPr>
          <a:lstStyle/>
          <a:p>
            <a:pPr algn="l" defTabSz="914400">
              <a:lnSpc>
                <a:spcPct val="90000"/>
              </a:lnSpc>
            </a:pPr>
            <a:r>
              <a:rPr lang="en-US" sz="2800" kern="1200">
                <a:solidFill>
                  <a:srgbClr val="FFFFFF"/>
                </a:solidFill>
                <a:latin typeface="+mj-lt"/>
                <a:ea typeface="+mj-ea"/>
                <a:cs typeface="+mj-cs"/>
              </a:rPr>
              <a:t>Project Plan &amp; Timeline</a:t>
            </a:r>
          </a:p>
        </p:txBody>
      </p:sp>
      <p:pic>
        <p:nvPicPr>
          <p:cNvPr id="5" name="Content Placeholder 4">
            <a:extLst>
              <a:ext uri="{FF2B5EF4-FFF2-40B4-BE49-F238E27FC236}">
                <a16:creationId xmlns:a16="http://schemas.microsoft.com/office/drawing/2014/main" id="{B9DDF580-0A88-39A5-77BC-393EB87FDEB1}"/>
              </a:ext>
            </a:extLst>
          </p:cNvPr>
          <p:cNvPicPr>
            <a:picLocks noGrp="1" noChangeAspect="1"/>
          </p:cNvPicPr>
          <p:nvPr>
            <p:ph idx="1"/>
          </p:nvPr>
        </p:nvPicPr>
        <p:blipFill>
          <a:blip r:embed="rId3"/>
          <a:stretch>
            <a:fillRect/>
          </a:stretch>
        </p:blipFill>
        <p:spPr>
          <a:xfrm>
            <a:off x="3155949" y="1321663"/>
            <a:ext cx="5510653" cy="421564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4" name="Rectangle 3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Shape 4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4" name="Rectangle 4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ZA" sz="3500">
                <a:solidFill>
                  <a:srgbClr val="FFFFFF"/>
                </a:solidFill>
              </a:rPr>
              <a:t>Feasibility Analysis</a:t>
            </a:r>
          </a:p>
        </p:txBody>
      </p:sp>
      <p:sp>
        <p:nvSpPr>
          <p:cNvPr id="3" name="Content Placeholder 2"/>
          <p:cNvSpPr>
            <a:spLocks noGrp="1"/>
          </p:cNvSpPr>
          <p:nvPr>
            <p:ph idx="1"/>
          </p:nvPr>
        </p:nvSpPr>
        <p:spPr>
          <a:xfrm>
            <a:off x="3607694" y="649480"/>
            <a:ext cx="4916510" cy="5546047"/>
          </a:xfrm>
        </p:spPr>
        <p:txBody>
          <a:bodyPr anchor="ctr">
            <a:normAutofit/>
          </a:bodyPr>
          <a:lstStyle/>
          <a:p>
            <a:endParaRPr lang="en-US" sz="1700"/>
          </a:p>
          <a:p>
            <a:pPr>
              <a:spcAft>
                <a:spcPts val="800"/>
              </a:spcAft>
              <a:defRPr sz="1800"/>
            </a:pPr>
            <a:r>
              <a:rPr lang="en-US" sz="1700"/>
              <a:t>Technical Feasibility: HIGH. Acts as a monitoring layer, not a full system replacement. Timestamps and rule-based triggers are straightforward.</a:t>
            </a:r>
          </a:p>
          <a:p>
            <a:pPr>
              <a:spcAft>
                <a:spcPts val="800"/>
              </a:spcAft>
              <a:defRPr sz="1800"/>
            </a:pPr>
            <a:r>
              <a:rPr lang="en-US" sz="1700"/>
              <a:t>Economic/Resource Feasibility: HIGH. Relies on publicly available policy documents and commission testimony. No paid tools required.</a:t>
            </a:r>
          </a:p>
          <a:p>
            <a:pPr>
              <a:spcAft>
                <a:spcPts val="800"/>
              </a:spcAft>
              <a:defRPr sz="1800"/>
            </a:pPr>
            <a:r>
              <a:rPr lang="en-US" sz="1700"/>
              <a:t>Operational Feasibility: MODERATE. Success depends on human factors: officers using the system and commanders acting on alerts.</a:t>
            </a:r>
          </a:p>
          <a:p>
            <a:pPr>
              <a:spcAft>
                <a:spcPts val="800"/>
              </a:spcAft>
              <a:defRPr sz="1800"/>
            </a:pPr>
            <a:r>
              <a:rPr lang="en-US" sz="1700"/>
              <a:t>Schedule Feasibility: MODERATE. Tight 4.5-week window; delays in early phases risk the final deadline.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vert="horz" lIns="91440" tIns="45720" rIns="91440" bIns="45720" rtlCol="0" anchor="ctr">
            <a:normAutofit/>
          </a:bodyPr>
          <a:lstStyle/>
          <a:p>
            <a:pPr defTabSz="914400"/>
            <a:r>
              <a:rPr lang="en-US" sz="3500" kern="1200">
                <a:solidFill>
                  <a:srgbClr val="FFFFFF"/>
                </a:solidFill>
                <a:latin typeface="+mj-lt"/>
                <a:ea typeface="+mj-ea"/>
                <a:cs typeface="+mj-cs"/>
              </a:rPr>
              <a:t>Risk Register &amp; Mitigation Strategies</a:t>
            </a:r>
          </a:p>
        </p:txBody>
      </p:sp>
      <p:graphicFrame>
        <p:nvGraphicFramePr>
          <p:cNvPr id="4" name="Content Placeholder 3">
            <a:extLst>
              <a:ext uri="{FF2B5EF4-FFF2-40B4-BE49-F238E27FC236}">
                <a16:creationId xmlns:a16="http://schemas.microsoft.com/office/drawing/2014/main" id="{C0BC1FB3-3ADA-6E29-A1D2-FADEA58C017B}"/>
              </a:ext>
            </a:extLst>
          </p:cNvPr>
          <p:cNvGraphicFramePr>
            <a:graphicFrameLocks noGrp="1"/>
          </p:cNvGraphicFramePr>
          <p:nvPr>
            <p:ph idx="1"/>
            <p:extLst>
              <p:ext uri="{D42A27DB-BD31-4B8C-83A1-F6EECF244321}">
                <p14:modId xmlns:p14="http://schemas.microsoft.com/office/powerpoint/2010/main" val="1910592779"/>
              </p:ext>
            </p:extLst>
          </p:nvPr>
        </p:nvGraphicFramePr>
        <p:xfrm>
          <a:off x="609070" y="2112579"/>
          <a:ext cx="7943816" cy="4192807"/>
        </p:xfrm>
        <a:graphic>
          <a:graphicData uri="http://schemas.openxmlformats.org/drawingml/2006/table">
            <a:tbl>
              <a:tblPr firstRow="1" bandRow="1">
                <a:solidFill>
                  <a:schemeClr val="tx1">
                    <a:lumMod val="75000"/>
                    <a:lumOff val="25000"/>
                  </a:schemeClr>
                </a:solidFill>
                <a:tableStyleId>{5C22544A-7EE6-4342-B048-85BDC9FD1C3A}</a:tableStyleId>
              </a:tblPr>
              <a:tblGrid>
                <a:gridCol w="2138229">
                  <a:extLst>
                    <a:ext uri="{9D8B030D-6E8A-4147-A177-3AD203B41FA5}">
                      <a16:colId xmlns:a16="http://schemas.microsoft.com/office/drawing/2014/main" val="3320310018"/>
                    </a:ext>
                  </a:extLst>
                </a:gridCol>
                <a:gridCol w="1975298">
                  <a:extLst>
                    <a:ext uri="{9D8B030D-6E8A-4147-A177-3AD203B41FA5}">
                      <a16:colId xmlns:a16="http://schemas.microsoft.com/office/drawing/2014/main" val="1255926824"/>
                    </a:ext>
                  </a:extLst>
                </a:gridCol>
                <a:gridCol w="1543081">
                  <a:extLst>
                    <a:ext uri="{9D8B030D-6E8A-4147-A177-3AD203B41FA5}">
                      <a16:colId xmlns:a16="http://schemas.microsoft.com/office/drawing/2014/main" val="1641207524"/>
                    </a:ext>
                  </a:extLst>
                </a:gridCol>
                <a:gridCol w="2287208">
                  <a:extLst>
                    <a:ext uri="{9D8B030D-6E8A-4147-A177-3AD203B41FA5}">
                      <a16:colId xmlns:a16="http://schemas.microsoft.com/office/drawing/2014/main" val="2602507174"/>
                    </a:ext>
                  </a:extLst>
                </a:gridCol>
              </a:tblGrid>
              <a:tr h="662714">
                <a:tc>
                  <a:txBody>
                    <a:bodyPr/>
                    <a:lstStyle/>
                    <a:p>
                      <a:r>
                        <a:rPr lang="en-US" sz="1400" b="0" cap="none" spc="0">
                          <a:solidFill>
                            <a:schemeClr val="bg1"/>
                          </a:solidFill>
                        </a:rPr>
                        <a:t>RISK</a:t>
                      </a:r>
                      <a:endParaRPr lang="en-ZA" sz="1400" b="0" cap="none" spc="0">
                        <a:solidFill>
                          <a:schemeClr val="bg1"/>
                        </a:solidFill>
                      </a:endParaRPr>
                    </a:p>
                  </a:txBody>
                  <a:tcPr marL="122151" marR="93962" marT="93962" marB="93962"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r>
                        <a:rPr lang="en-US" sz="1400" b="0" cap="none" spc="0">
                          <a:solidFill>
                            <a:schemeClr val="bg1"/>
                          </a:solidFill>
                        </a:rPr>
                        <a:t>LIKELIHOOD</a:t>
                      </a:r>
                      <a:endParaRPr lang="en-ZA" sz="1400" b="0" cap="none" spc="0">
                        <a:solidFill>
                          <a:schemeClr val="bg1"/>
                        </a:solidFill>
                      </a:endParaRPr>
                    </a:p>
                  </a:txBody>
                  <a:tcPr marL="122151" marR="93962" marT="93962" marB="93962"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r>
                        <a:rPr lang="en-US" sz="1400" b="0" cap="none" spc="0">
                          <a:solidFill>
                            <a:schemeClr val="bg1"/>
                          </a:solidFill>
                        </a:rPr>
                        <a:t>IMPACT</a:t>
                      </a:r>
                      <a:endParaRPr lang="en-ZA" sz="1400" b="0" cap="none" spc="0">
                        <a:solidFill>
                          <a:schemeClr val="bg1"/>
                        </a:solidFill>
                      </a:endParaRPr>
                    </a:p>
                  </a:txBody>
                  <a:tcPr marL="122151" marR="93962" marT="93962" marB="93962"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r>
                        <a:rPr lang="en-US" sz="1400" b="0" cap="none" spc="0">
                          <a:solidFill>
                            <a:schemeClr val="bg1"/>
                          </a:solidFill>
                        </a:rPr>
                        <a:t>MITIGATION STRATEGY</a:t>
                      </a:r>
                      <a:endParaRPr lang="en-ZA" sz="1400" b="0" cap="none" spc="0">
                        <a:solidFill>
                          <a:schemeClr val="bg1"/>
                        </a:solidFill>
                      </a:endParaRPr>
                    </a:p>
                  </a:txBody>
                  <a:tcPr marL="122151" marR="93962" marT="93962" marB="93962"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3642803992"/>
                  </a:ext>
                </a:extLst>
              </a:tr>
              <a:tr h="662714">
                <a:tc>
                  <a:txBody>
                    <a:bodyPr/>
                    <a:lstStyle/>
                    <a:p>
                      <a:r>
                        <a:rPr lang="en-US" sz="1400" cap="none" spc="0">
                          <a:solidFill>
                            <a:schemeClr val="bg1"/>
                          </a:solidFill>
                        </a:rPr>
                        <a:t>Scope Creep</a:t>
                      </a:r>
                      <a:endParaRPr lang="en-ZA" sz="1400" cap="none" spc="0">
                        <a:solidFill>
                          <a:schemeClr val="bg1"/>
                        </a:solidFill>
                      </a:endParaRPr>
                    </a:p>
                  </a:txBody>
                  <a:tcPr marL="122151" marR="93962" marT="93962" marB="93962">
                    <a:lnL w="38100" cap="flat" cmpd="sng" algn="ctr">
                      <a:no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solidFill>
                      <a:schemeClr val="tx1">
                        <a:lumMod val="75000"/>
                        <a:lumOff val="25000"/>
                      </a:schemeClr>
                    </a:solidFill>
                  </a:tcPr>
                </a:tc>
                <a:tc>
                  <a:txBody>
                    <a:bodyPr/>
                    <a:lstStyle/>
                    <a:p>
                      <a:r>
                        <a:rPr lang="en-US" sz="1400" cap="none" spc="0">
                          <a:solidFill>
                            <a:schemeClr val="bg1"/>
                          </a:solidFill>
                        </a:rPr>
                        <a:t>Medium</a:t>
                      </a:r>
                      <a:endParaRPr lang="en-ZA" sz="1400" cap="none" spc="0">
                        <a:solidFill>
                          <a:schemeClr val="bg1"/>
                        </a:solidFill>
                      </a:endParaRPr>
                    </a:p>
                  </a:txBody>
                  <a:tcPr marL="122151" marR="93962" marT="93962" marB="93962">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solidFill>
                      <a:schemeClr val="tx1">
                        <a:lumMod val="75000"/>
                        <a:lumOff val="25000"/>
                      </a:schemeClr>
                    </a:solidFill>
                  </a:tcPr>
                </a:tc>
                <a:tc>
                  <a:txBody>
                    <a:bodyPr/>
                    <a:lstStyle/>
                    <a:p>
                      <a:r>
                        <a:rPr lang="en-US" sz="1400" cap="none" spc="0">
                          <a:solidFill>
                            <a:schemeClr val="bg1"/>
                          </a:solidFill>
                        </a:rPr>
                        <a:t>High</a:t>
                      </a:r>
                      <a:endParaRPr lang="en-ZA" sz="1400" cap="none" spc="0">
                        <a:solidFill>
                          <a:schemeClr val="bg1"/>
                        </a:solidFill>
                      </a:endParaRPr>
                    </a:p>
                  </a:txBody>
                  <a:tcPr marL="122151" marR="93962" marT="93962" marB="93962">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solidFill>
                      <a:schemeClr val="tx1">
                        <a:lumMod val="75000"/>
                        <a:lumOff val="25000"/>
                      </a:schemeClr>
                    </a:solidFill>
                  </a:tcPr>
                </a:tc>
                <a:tc>
                  <a:txBody>
                    <a:bodyPr/>
                    <a:lstStyle/>
                    <a:p>
                      <a:r>
                        <a:rPr lang="en-US" sz="1400" cap="none" spc="0">
                          <a:solidFill>
                            <a:schemeClr val="bg1"/>
                          </a:solidFill>
                        </a:rPr>
                        <a:t>Strictly enforce scope boundary at Phases 5–6</a:t>
                      </a:r>
                      <a:endParaRPr lang="en-ZA" sz="1400" cap="none" spc="0">
                        <a:solidFill>
                          <a:schemeClr val="bg1"/>
                        </a:solidFill>
                      </a:endParaRPr>
                    </a:p>
                  </a:txBody>
                  <a:tcPr marL="122151" marR="93962" marT="93962" marB="93962">
                    <a:lnL w="6350" cap="flat" cmpd="sng" algn="ctr">
                      <a:solidFill>
                        <a:schemeClr val="tx1">
                          <a:lumMod val="50000"/>
                          <a:lumOff val="50000"/>
                        </a:schemeClr>
                      </a:solidFill>
                      <a:prstDash val="solid"/>
                    </a:lnL>
                    <a:lnR w="38100" cap="flat" cmpd="sng" algn="ctr">
                      <a:noFill/>
                      <a:prstDash val="solid"/>
                    </a:lnR>
                    <a:lnT w="38100" cmpd="sng">
                      <a:noFill/>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4038883922"/>
                  </a:ext>
                </a:extLst>
              </a:tr>
              <a:tr h="1102333">
                <a:tc>
                  <a:txBody>
                    <a:bodyPr/>
                    <a:lstStyle/>
                    <a:p>
                      <a:r>
                        <a:rPr lang="en-ZA" sz="1400" cap="none" spc="0">
                          <a:solidFill>
                            <a:schemeClr val="bg1"/>
                          </a:solidFill>
                        </a:rPr>
                        <a:t>Compressed Schedule</a:t>
                      </a:r>
                    </a:p>
                  </a:txBody>
                  <a:tcPr marL="122151" marR="93962" marT="93962" marB="93962">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r>
                        <a:rPr lang="en-US" sz="1400" cap="none" spc="0">
                          <a:solidFill>
                            <a:schemeClr val="bg1"/>
                          </a:solidFill>
                        </a:rPr>
                        <a:t>High</a:t>
                      </a:r>
                      <a:endParaRPr lang="en-ZA" sz="1400" cap="none" spc="0">
                        <a:solidFill>
                          <a:schemeClr val="bg1"/>
                        </a:solidFill>
                      </a:endParaRPr>
                    </a:p>
                  </a:txBody>
                  <a:tcPr marL="122151" marR="93962" marT="93962" marB="93962">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r>
                        <a:rPr lang="en-US" sz="1400" cap="none" spc="0">
                          <a:solidFill>
                            <a:schemeClr val="bg1"/>
                          </a:solidFill>
                        </a:rPr>
                        <a:t>High</a:t>
                      </a:r>
                      <a:endParaRPr lang="en-ZA" sz="1400" cap="none" spc="0">
                        <a:solidFill>
                          <a:schemeClr val="bg1"/>
                        </a:solidFill>
                      </a:endParaRPr>
                    </a:p>
                  </a:txBody>
                  <a:tcPr marL="122151" marR="93962" marT="93962" marB="93962">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r>
                        <a:rPr lang="en-US" sz="1400" cap="none" spc="0">
                          <a:solidFill>
                            <a:schemeClr val="bg1"/>
                          </a:solidFill>
                        </a:rPr>
                        <a:t>Treat Phase 1–2 end dates as hard deadlines; cut source depth if needed.</a:t>
                      </a:r>
                      <a:endParaRPr lang="en-ZA" sz="1400" cap="none" spc="0">
                        <a:solidFill>
                          <a:schemeClr val="bg1"/>
                        </a:solidFill>
                      </a:endParaRPr>
                    </a:p>
                  </a:txBody>
                  <a:tcPr marL="122151" marR="93962" marT="93962" marB="93962">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extLst>
                  <a:ext uri="{0D108BD9-81ED-4DB2-BD59-A6C34878D82A}">
                    <a16:rowId xmlns:a16="http://schemas.microsoft.com/office/drawing/2014/main" val="1656312408"/>
                  </a:ext>
                </a:extLst>
              </a:tr>
              <a:tr h="882523">
                <a:tc>
                  <a:txBody>
                    <a:bodyPr/>
                    <a:lstStyle/>
                    <a:p>
                      <a:r>
                        <a:rPr lang="en-ZA" sz="1400" cap="none" spc="0">
                          <a:solidFill>
                            <a:schemeClr val="bg1"/>
                          </a:solidFill>
                        </a:rPr>
                        <a:t>Outdated Literature</a:t>
                      </a:r>
                    </a:p>
                  </a:txBody>
                  <a:tcPr marL="122151" marR="93962" marT="93962" marB="93962">
                    <a:lnL w="38100" cap="flat" cmpd="sng" algn="ctr">
                      <a:no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r>
                        <a:rPr lang="en-US" sz="1400" cap="none" spc="0">
                          <a:solidFill>
                            <a:schemeClr val="bg1"/>
                          </a:solidFill>
                        </a:rPr>
                        <a:t>Medium</a:t>
                      </a:r>
                      <a:endParaRPr lang="en-ZA" sz="1400" cap="none" spc="0">
                        <a:solidFill>
                          <a:schemeClr val="bg1"/>
                        </a:solidFill>
                      </a:endParaRPr>
                    </a:p>
                  </a:txBody>
                  <a:tcPr marL="122151" marR="93962" marT="93962" marB="93962">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r>
                        <a:rPr lang="en-US" sz="1400" cap="none" spc="0">
                          <a:solidFill>
                            <a:schemeClr val="bg1"/>
                          </a:solidFill>
                        </a:rPr>
                        <a:t>Medium</a:t>
                      </a:r>
                      <a:endParaRPr lang="en-ZA" sz="1400" cap="none" spc="0">
                        <a:solidFill>
                          <a:schemeClr val="bg1"/>
                        </a:solidFill>
                      </a:endParaRPr>
                    </a:p>
                  </a:txBody>
                  <a:tcPr marL="122151" marR="93962" marT="93962" marB="93962">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r>
                        <a:rPr lang="en-US" sz="1400" cap="none" spc="0">
                          <a:solidFill>
                            <a:schemeClr val="bg1"/>
                          </a:solidFill>
                        </a:rPr>
                        <a:t>Lock source list end of Phase 1; only add material changes.</a:t>
                      </a:r>
                      <a:endParaRPr lang="en-ZA" sz="1400" cap="none" spc="0">
                        <a:solidFill>
                          <a:schemeClr val="bg1"/>
                        </a:solidFill>
                      </a:endParaRPr>
                    </a:p>
                  </a:txBody>
                  <a:tcPr marL="122151" marR="93962" marT="93962" marB="93962">
                    <a:lnL w="6350" cap="flat" cmpd="sng" algn="ctr">
                      <a:solidFill>
                        <a:schemeClr val="tx1">
                          <a:lumMod val="50000"/>
                          <a:lumOff val="50000"/>
                        </a:schemeClr>
                      </a:solidFill>
                      <a:prstDash val="solid"/>
                    </a:lnL>
                    <a:lnR w="38100" cap="flat" cmpd="sng" algn="ctr">
                      <a:no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1259606352"/>
                  </a:ext>
                </a:extLst>
              </a:tr>
              <a:tr h="882523">
                <a:tc>
                  <a:txBody>
                    <a:bodyPr/>
                    <a:lstStyle/>
                    <a:p>
                      <a:r>
                        <a:rPr lang="en-ZA" sz="1400" cap="none" spc="0">
                          <a:solidFill>
                            <a:schemeClr val="bg1"/>
                          </a:solidFill>
                        </a:rPr>
                        <a:t>Sensitive Subject Matter</a:t>
                      </a:r>
                    </a:p>
                  </a:txBody>
                  <a:tcPr marL="122151" marR="93962" marT="93962" marB="93962">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r>
                        <a:rPr lang="en-US" sz="1400" cap="none" spc="0">
                          <a:solidFill>
                            <a:schemeClr val="bg1"/>
                          </a:solidFill>
                        </a:rPr>
                        <a:t>Low</a:t>
                      </a:r>
                      <a:endParaRPr lang="en-ZA" sz="1400" cap="none" spc="0">
                        <a:solidFill>
                          <a:schemeClr val="bg1"/>
                        </a:solidFill>
                      </a:endParaRPr>
                    </a:p>
                  </a:txBody>
                  <a:tcPr marL="122151" marR="93962" marT="93962" marB="93962">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r>
                        <a:rPr lang="en-US" sz="1400" cap="none" spc="0">
                          <a:solidFill>
                            <a:schemeClr val="bg1"/>
                          </a:solidFill>
                        </a:rPr>
                        <a:t>High</a:t>
                      </a:r>
                      <a:endParaRPr lang="en-ZA" sz="1400" cap="none" spc="0">
                        <a:solidFill>
                          <a:schemeClr val="bg1"/>
                        </a:solidFill>
                      </a:endParaRPr>
                    </a:p>
                  </a:txBody>
                  <a:tcPr marL="122151" marR="93962" marT="93962" marB="93962">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r>
                        <a:rPr lang="en-US" sz="1400" cap="none" spc="0">
                          <a:solidFill>
                            <a:schemeClr val="bg1"/>
                          </a:solidFill>
                        </a:rPr>
                        <a:t>Every claim must trace to a cited source; no speculation.</a:t>
                      </a:r>
                      <a:endParaRPr lang="en-ZA" sz="1400" cap="none" spc="0">
                        <a:solidFill>
                          <a:schemeClr val="bg1"/>
                        </a:solidFill>
                      </a:endParaRPr>
                    </a:p>
                  </a:txBody>
                  <a:tcPr marL="122151" marR="93962" marT="93962" marB="93962">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extLst>
                  <a:ext uri="{0D108BD9-81ED-4DB2-BD59-A6C34878D82A}">
                    <a16:rowId xmlns:a16="http://schemas.microsoft.com/office/drawing/2014/main" val="1550836541"/>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19797" y="586855"/>
            <a:ext cx="3172575" cy="3387497"/>
          </a:xfrm>
        </p:spPr>
        <p:txBody>
          <a:bodyPr anchor="b">
            <a:normAutofit/>
          </a:bodyPr>
          <a:lstStyle/>
          <a:p>
            <a:pPr algn="r"/>
            <a:r>
              <a:rPr lang="en-ZA" sz="3500">
                <a:solidFill>
                  <a:srgbClr val="FFFFFF"/>
                </a:solidFill>
              </a:rPr>
              <a:t>Conclusion</a:t>
            </a:r>
          </a:p>
        </p:txBody>
      </p:sp>
      <p:sp>
        <p:nvSpPr>
          <p:cNvPr id="3" name="Content Placeholder 2"/>
          <p:cNvSpPr>
            <a:spLocks noGrp="1"/>
          </p:cNvSpPr>
          <p:nvPr>
            <p:ph idx="1"/>
          </p:nvPr>
        </p:nvSpPr>
        <p:spPr>
          <a:xfrm>
            <a:off x="4877368" y="649480"/>
            <a:ext cx="3646835" cy="5546047"/>
          </a:xfrm>
        </p:spPr>
        <p:txBody>
          <a:bodyPr anchor="ctr">
            <a:normAutofit/>
          </a:bodyPr>
          <a:lstStyle/>
          <a:p>
            <a:endParaRPr lang="en-US" sz="1700"/>
          </a:p>
          <a:p>
            <a:pPr>
              <a:spcAft>
                <a:spcPts val="800"/>
              </a:spcAft>
              <a:defRPr sz="1800"/>
            </a:pPr>
            <a:r>
              <a:rPr lang="en-US" sz="1700"/>
              <a:t>The Evidence is Clear: Unlawful refusals and accountability failures are well-documented, not obscure.</a:t>
            </a:r>
          </a:p>
          <a:p>
            <a:pPr>
              <a:spcAft>
                <a:spcPts val="800"/>
              </a:spcAft>
              <a:defRPr sz="1800"/>
            </a:pPr>
            <a:r>
              <a:rPr lang="en-US" sz="1700"/>
              <a:t>The RE Value: Requirement engineering turns this existing evidence into something testable and buildable.</a:t>
            </a:r>
          </a:p>
          <a:p>
            <a:pPr>
              <a:spcAft>
                <a:spcPts val="800"/>
              </a:spcAft>
              <a:defRPr sz="1800"/>
            </a:pPr>
            <a:r>
              <a:rPr lang="en-US" sz="1700"/>
              <a:t>The Solution: A layered compliance-and-escalation system strengthens existing SAPS processes without requiring a total replacement.</a:t>
            </a:r>
          </a:p>
          <a:p>
            <a:pPr>
              <a:spcAft>
                <a:spcPts val="800"/>
              </a:spcAft>
              <a:defRPr sz="1800"/>
            </a:pPr>
            <a:r>
              <a:rPr lang="en-US" sz="1700"/>
              <a:t>The Caveat: Technology makes failure visible earlier, but human action (officers using it, managers acting on alerts) is still required.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Q&amp;A &amp; References</a:t>
            </a:r>
          </a:p>
        </p:txBody>
      </p:sp>
      <p:sp>
        <p:nvSpPr>
          <p:cNvPr id="3" name="Content Placeholder 2"/>
          <p:cNvSpPr>
            <a:spLocks noGrp="1"/>
          </p:cNvSpPr>
          <p:nvPr>
            <p:ph idx="1"/>
          </p:nvPr>
        </p:nvSpPr>
        <p:spPr/>
        <p:txBody>
          <a:bodyPr/>
          <a:lstStyle/>
          <a:p>
            <a:endParaRPr/>
          </a:p>
          <a:p>
            <a:pPr>
              <a:spcAft>
                <a:spcPts val="800"/>
              </a:spcAft>
              <a:defRPr sz="1800"/>
            </a:pPr>
            <a:r>
              <a:t>Questions?</a:t>
            </a:r>
          </a:p>
          <a:p>
            <a:pPr>
              <a:spcAft>
                <a:spcPts val="800"/>
              </a:spcAft>
              <a:defRPr sz="1800"/>
            </a:pPr>
            <a:endParaRPr/>
          </a:p>
          <a:p>
            <a:pPr>
              <a:spcAft>
                <a:spcPts val="800"/>
              </a:spcAft>
              <a:defRPr sz="1800"/>
            </a:pPr>
            <a:r>
              <a:t>Key References:</a:t>
            </a:r>
          </a:p>
          <a:p>
            <a:pPr>
              <a:spcAft>
                <a:spcPts val="800"/>
              </a:spcAft>
              <a:defRPr sz="1800"/>
            </a:pPr>
            <a:r>
              <a:t>• SAPS National Instruction 3 of 2011</a:t>
            </a:r>
          </a:p>
          <a:p>
            <a:pPr>
              <a:spcAft>
                <a:spcPts val="800"/>
              </a:spcAft>
              <a:defRPr sz="1800"/>
            </a:pPr>
            <a:r>
              <a:t>• Madlanga Commission of Inquiry Testimony (2025–2026)</a:t>
            </a:r>
          </a:p>
          <a:p>
            <a:pPr>
              <a:spcAft>
                <a:spcPts val="800"/>
              </a:spcAft>
              <a:defRPr sz="1800"/>
            </a:pPr>
            <a:r>
              <a:t>• IPID Reports &amp; Parliamentary Statements (2024–2026)</a:t>
            </a:r>
          </a:p>
          <a:p>
            <a:pPr>
              <a:spcAft>
                <a:spcPts val="800"/>
              </a:spcAft>
              <a:defRPr sz="1800"/>
            </a:pPr>
            <a:r>
              <a:t>• Full reference list available in the submitted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1605</Words>
  <Application>Microsoft Office PowerPoint</Application>
  <PresentationFormat>On-screen Show (4:3)</PresentationFormat>
  <Paragraphs>118</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SAPS Case Dockets: Why Victims Still Get Turned Away</vt:lpstr>
      <vt:lpstr>Introduction &amp; Context</vt:lpstr>
      <vt:lpstr>Literature Review &amp; Key Findings</vt:lpstr>
      <vt:lpstr>Core Challenges Identified</vt:lpstr>
      <vt:lpstr>Problem Statement</vt:lpstr>
      <vt:lpstr>Key Stakeholders</vt:lpstr>
      <vt:lpstr>Functional Requirements</vt:lpstr>
      <vt:lpstr>Non-Functional Requirements</vt:lpstr>
      <vt:lpstr>System Data Model (Entity Relationships)</vt:lpstr>
      <vt:lpstr>System Data Model </vt:lpstr>
      <vt:lpstr>Project Plan &amp; Timeline</vt:lpstr>
      <vt:lpstr>Feasibility Analysis</vt:lpstr>
      <vt:lpstr>Risk Register &amp; Mitigation Strategies</vt:lpstr>
      <vt:lpstr>Conclusion</vt:lpstr>
      <vt:lpstr>Q&amp;A &amp; 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Aobakwe Rammutla</cp:lastModifiedBy>
  <cp:revision>2</cp:revision>
  <dcterms:created xsi:type="dcterms:W3CDTF">2013-01-27T09:14:16Z</dcterms:created>
  <dcterms:modified xsi:type="dcterms:W3CDTF">2026-09-03T18:57:43Z</dcterms:modified>
  <cp:category/>
</cp:coreProperties>
</file>